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-914400"/>
            <a:ext cx="7315200" cy="5486400"/>
          </a:xfrm>
          <a:prstGeom prst="roundRect">
            <a:avLst>
              <a:gd name="adj" fmla="val 50000"/>
            </a:avLst>
          </a:prstGeom>
          <a:solidFill>
            <a:srgbClr val="0A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365760"/>
            <a:ext cx="640080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914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3B82F6"/>
                </a:solidFill>
                <a:latin typeface="Calibri"/>
              </a:rPr>
              <a:t>SmarTrack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C"/>
                </a:solidFill>
                <a:latin typeface="Calibri"/>
              </a:rPr>
              <a:t>Inventario Inteligente para Planta de Manufactura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Transformamos la forma en que su planta administra, visualiza y extrae
componentes electrónicos — en tiempo real, desde cualquier dispositivo.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846320"/>
            <a:ext cx="2286000" cy="11887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  <a:latin typeface="Calibri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Sin papel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846320"/>
            <a:ext cx="2286000" cy="11887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8920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366F1"/>
                </a:solidFill>
                <a:latin typeface="Calibri"/>
              </a:rPr>
              <a:t>&lt;5s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Actualización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846320"/>
            <a:ext cx="2286000" cy="11887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8920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4B8A6"/>
                </a:solidFill>
                <a:latin typeface="Calibri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Disponible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4846320"/>
            <a:ext cx="2286000" cy="118872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48920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5440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Errores por datos viejos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9601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F6FC"/>
                </a:solidFill>
                <a:latin typeface="Calibri"/>
              </a:rPr>
              <a:t>SR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2952" y="182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0" b="1" i="0">
                <a:solidFill>
                  <a:srgbClr val="1A1F27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🔴  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  <a:latin typeface="Calibri"/>
              </a:rPr>
              <a:t>¿Qué pasaba antes de SmarTrack?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Cada minuto que un operario busca un componente es productividad perdida.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486400" cy="1920240"/>
          </a:xfrm>
          <a:prstGeom prst="roundRect">
            <a:avLst>
              <a:gd name="adj" fmla="val 30000"/>
            </a:avLst>
          </a:prstGeom>
          <a:solidFill>
            <a:srgbClr val="140A0A"/>
          </a:solidFill>
          <a:ln w="6350">
            <a:solidFill>
              <a:srgbClr val="4A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6FC"/>
                </a:solidFill>
                <a:latin typeface="Calibri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C"/>
                </a:solidFill>
                <a:latin typeface="Calibri"/>
              </a:rPr>
              <a:t>Búsqueda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El personal recorría físicamente los racks para verificar stock.
5–20 minutos perdidos buscando un rollo.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011680"/>
            <a:ext cx="5486400" cy="1920240"/>
          </a:xfrm>
          <a:prstGeom prst="roundRect">
            <a:avLst>
              <a:gd name="adj" fmla="val 30000"/>
            </a:avLst>
          </a:prstGeom>
          <a:solidFill>
            <a:srgbClr val="140A0A"/>
          </a:solidFill>
          <a:ln w="6350">
            <a:solidFill>
              <a:srgbClr val="4A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6FC"/>
                </a:solidFill>
                <a:latin typeface="Calibri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C"/>
                </a:solidFill>
                <a:latin typeface="Calibri"/>
              </a:rPr>
              <a:t>Registros en Papel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0632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Si alguien no actualizaba la hoja, el inventario quedaba
desactualizado. Datos que no reflejan la realidad.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5486400" cy="1920240"/>
          </a:xfrm>
          <a:prstGeom prst="roundRect">
            <a:avLst>
              <a:gd name="adj" fmla="val 30000"/>
            </a:avLst>
          </a:prstGeom>
          <a:solidFill>
            <a:srgbClr val="140A0A"/>
          </a:solidFill>
          <a:ln w="6350">
            <a:solidFill>
              <a:srgbClr val="4A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6FC"/>
                </a:solidFill>
                <a:latin typeface="Calibri"/>
              </a:rPr>
              <a:t>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C"/>
                </a:solidFill>
                <a:latin typeface="Calibri"/>
              </a:rPr>
              <a:t>Comunicación por Radio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Operador llama al almacén, el almacenista va a verificar.
Proceso lento con riesgo de errores y demoras en línea.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206240"/>
            <a:ext cx="5486400" cy="1920240"/>
          </a:xfrm>
          <a:prstGeom prst="roundRect">
            <a:avLst>
              <a:gd name="adj" fmla="val 30000"/>
            </a:avLst>
          </a:prstGeom>
          <a:solidFill>
            <a:srgbClr val="140A0A"/>
          </a:solidFill>
          <a:ln w="6350">
            <a:solidFill>
              <a:srgbClr val="4A1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6FC"/>
                </a:solidFill>
                <a:latin typeface="Calibri"/>
              </a:rP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C"/>
                </a:solidFill>
                <a:latin typeface="Calibri"/>
              </a:rPr>
              <a:t>Sin Trazabilidad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2578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¿Quién sacó qué material y cuándo? Imposible saberlo.
Auditorías complicadas, mermas difíciles de justificar.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130909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2910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F4444"/>
                </a:solidFill>
                <a:latin typeface="Calibri"/>
              </a:rPr>
              <a:t>🔴  Costo estimado: 30–90 minutos por turno en búsquedas manuales que podrían eliminarse por completo.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2952" y="182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0" b="1" i="0">
                <a:solidFill>
                  <a:srgbClr val="1A1F27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Calibri"/>
              </a:rPr>
              <a:t>✅ 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  <a:latin typeface="Calibri"/>
              </a:rPr>
              <a:t>SmarTrack conecta hardware y 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B949E"/>
                </a:solidFill>
                <a:latin typeface="Calibri"/>
              </a:rPr>
              <a:t>El sistema lee los racks físicos automáticamente cada 5 segundos, mantiene
una base de datos siempre al día y la expone en un panel web accesible desde cualquier PC.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31720"/>
            <a:ext cx="2011680" cy="1600200"/>
          </a:xfrm>
          <a:prstGeom prst="roundRect">
            <a:avLst>
              <a:gd name="adj" fmla="val 15000"/>
            </a:avLst>
          </a:prstGeom>
          <a:solidFill>
            <a:srgbClr val="121D34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6FC"/>
                </a:solidFill>
                <a:latin typeface="Calibri"/>
              </a:rPr>
              <a:t>🏗️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54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SmartRack
&amp; Torres JUKI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331720"/>
            <a:ext cx="2011680" cy="1600200"/>
          </a:xfrm>
          <a:prstGeom prst="roundRect">
            <a:avLst>
              <a:gd name="adj" fmla="val 15000"/>
            </a:avLst>
          </a:prstGeom>
          <a:solidFill>
            <a:srgbClr val="0E1E1E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6FC"/>
                </a:solidFill>
                <a:latin typeface="Calibri"/>
              </a:rP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  <a:latin typeface="Calibri"/>
              </a:rPr>
              <a:t>Sincronización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54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Cada 5 segundos
automática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331720"/>
            <a:ext cx="2011680" cy="1600200"/>
          </a:xfrm>
          <a:prstGeom prst="roundRect">
            <a:avLst>
              <a:gd name="adj" fmla="val 15000"/>
            </a:avLst>
          </a:prstGeom>
          <a:solidFill>
            <a:srgbClr val="121D34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6FC"/>
                </a:solidFill>
                <a:latin typeface="Calibri"/>
              </a:rPr>
              <a:t>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Base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154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Inventario local
siempre al día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331720"/>
            <a:ext cx="2011680" cy="1600200"/>
          </a:xfrm>
          <a:prstGeom prst="roundRect">
            <a:avLst>
              <a:gd name="adj" fmla="val 15000"/>
            </a:avLst>
          </a:prstGeom>
          <a:solidFill>
            <a:srgbClr val="0E1E1E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6FC"/>
                </a:solidFill>
                <a:latin typeface="Calibri"/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Panel Web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54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Cualquier
dispositivo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331720"/>
            <a:ext cx="2011680" cy="1600200"/>
          </a:xfrm>
          <a:prstGeom prst="roundRect">
            <a:avLst>
              <a:gd name="adj" fmla="val 15000"/>
            </a:avLst>
          </a:prstGeom>
          <a:solidFill>
            <a:srgbClr val="121D34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6FC"/>
                </a:solidFill>
                <a:latin typeface="Calibri"/>
              </a:rP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  <a:latin typeface="Calibri"/>
              </a:rPr>
              <a:t>Operador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154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Solicita en
segundos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51960"/>
            <a:ext cx="3749039" cy="19202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C"/>
                </a:solidFill>
                <a:latin typeface="Calibri"/>
              </a:rPr>
              <a:t>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846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C"/>
                </a:solidFill>
                <a:latin typeface="Calibri"/>
              </a:rPr>
              <a:t>Polling Automático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1206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El sistema consulta los racks físicos cada 5 segundos sin intervención humana.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4251960"/>
            <a:ext cx="3749039" cy="19202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C"/>
                </a:solidFill>
                <a:latin typeface="Calibri"/>
              </a:rPr>
              <a:t>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846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C"/>
                </a:solidFill>
                <a:latin typeface="Calibri"/>
              </a:rPr>
              <a:t>Dos Tipos de Almacén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51206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Integra SmartRack y Torres JUKI en una sola vista unificada y coherente.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4251960"/>
            <a:ext cx="3749039" cy="192024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108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C"/>
                </a:solidFill>
                <a:latin typeface="Calibri"/>
              </a:rPr>
              <a:t>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4846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C"/>
                </a:solidFill>
                <a:latin typeface="Calibri"/>
              </a:rPr>
              <a:t>Sin Instalación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51206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Se accede desde el navegador. No instalar nada en las PCs de producción.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2952" y="182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0" b="1" i="0">
                <a:solidFill>
                  <a:srgbClr val="1A1F27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🔍  PANEL DE OPERADOR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6FC"/>
                </a:solidFill>
                <a:latin typeface="Calibri"/>
              </a:rPr>
              <a:t>El operario encuentra cualquier
componente en segundos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Escanea o escribe el número de parte — el sistema localiza rack y celda exacta.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Soporte de scanner de barras (formato Matdoc) — búsqueda automática al escanear.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369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3697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Autocompletado inteligente mientras escribes con partes disponibles en inventario.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0390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0390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Selección de Línea para priorizar los racks correctos para esa línea de producción.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708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7083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Buffer multi-rollo — agrega varios componentes y extrae todos de un solo clic.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Alerta visual en rojo si el componente está en un rack de otra línea.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914400"/>
            <a:ext cx="4846320" cy="5577840"/>
          </a:xfrm>
          <a:prstGeom prst="roundRect">
            <a:avLst>
              <a:gd name="adj" fmla="val 20000"/>
            </a:avLst>
          </a:prstGeom>
          <a:solidFill>
            <a:srgbClr val="0D1117"/>
          </a:solidFill>
          <a:ln w="1016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914400"/>
            <a:ext cx="4846320" cy="347472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78040" y="103327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9208" y="103327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0376" y="103327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960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Calibri"/>
              </a:rPr>
              <a:t>SmarTrack — Panel Operador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1417320"/>
            <a:ext cx="4480560" cy="502920"/>
          </a:xfrm>
          <a:prstGeom prst="roundRect">
            <a:avLst>
              <a:gd name="adj" fmla="val 10000"/>
            </a:avLst>
          </a:prstGeom>
          <a:solidFill>
            <a:srgbClr val="060810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🔍  0402WGF10R0TCE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05740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051812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✓  ENCONTRADO EN LÍNEA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F6FC"/>
                </a:solidFill>
                <a:latin typeface="Calibri"/>
              </a:rPr>
              <a:t>SMARTRACK 2  ·  Posición Left B/14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4F58"/>
                </a:solidFill>
                <a:latin typeface="Calibri"/>
              </a:rPr>
              <a:t>Qty: 4,200 uds  ·  Actualizado hace 3s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3108960"/>
            <a:ext cx="4480560" cy="502920"/>
          </a:xfrm>
          <a:prstGeom prst="roundRect">
            <a:avLst>
              <a:gd name="adj" fmla="val 10000"/>
            </a:avLst>
          </a:prstGeom>
          <a:solidFill>
            <a:srgbClr val="180808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31729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⚠️  1 rollo adicional en SMARTRACK 5 (otra línea)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74903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949E"/>
                </a:solidFill>
                <a:latin typeface="Calibri"/>
              </a:rPr>
              <a:t>Buffer de Extracción  (2 rollos)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4114800"/>
            <a:ext cx="4480560" cy="502920"/>
          </a:xfrm>
          <a:prstGeom prst="roundRect">
            <a:avLst>
              <a:gd name="adj" fmla="val 8000"/>
            </a:avLst>
          </a:prstGeom>
          <a:solidFill>
            <a:srgbClr val="060810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4160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Calibri"/>
              </a:rPr>
              <a:t>0402WGF10R0TCE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3891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84F58"/>
                </a:solidFill>
                <a:latin typeface="Calibri"/>
              </a:rPr>
              <a:t>SR2 · Left B/14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425196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0B981"/>
                </a:solidFill>
                <a:latin typeface="Calibri"/>
              </a:rPr>
              <a:t>4,200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4709160"/>
            <a:ext cx="4480560" cy="502920"/>
          </a:xfrm>
          <a:prstGeom prst="roundRect">
            <a:avLst>
              <a:gd name="adj" fmla="val 8000"/>
            </a:avLst>
          </a:prstGeom>
          <a:solidFill>
            <a:srgbClr val="060810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4754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B82F6"/>
                </a:solidFill>
                <a:latin typeface="Calibri"/>
              </a:rPr>
              <a:t>RC0402FR-07100RL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9834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84F58"/>
                </a:solidFill>
                <a:latin typeface="Calibri"/>
              </a:rPr>
              <a:t>SR1 · Right A/05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484632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10B981"/>
                </a:solidFill>
                <a:latin typeface="Calibri"/>
              </a:rPr>
              <a:t>12,000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5349240"/>
            <a:ext cx="4480560" cy="6400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5440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F6FC"/>
                </a:solidFill>
                <a:latin typeface="Calibri"/>
              </a:rPr>
              <a:t>⚡  EXTRAER SELECCIONADOS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2952" y="182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0" b="1" i="0">
                <a:solidFill>
                  <a:srgbClr val="1A1F27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Calibri"/>
              </a:rPr>
              <a:t>⚡  EXTRACCIÓN DE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Calibri"/>
              </a:rPr>
              <a:t>Un clic para extraer — inmediato o programado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Elige cuándo se ejecuta la extracción: al instante o con anticipación.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5486400" cy="2103120"/>
          </a:xfrm>
          <a:prstGeom prst="roundRect">
            <a:avLst>
              <a:gd name="adj" fmla="val 30000"/>
            </a:avLst>
          </a:prstGeom>
          <a:solidFill>
            <a:srgbClr val="0D1424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C"/>
                </a:solidFill>
                <a:latin typeface="Calibr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Extracción Inmediata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El sistema envía la señal al rack físico al instante. El rack libera los rollos y el operador solo va a recogerlos. Sin esperas, sin movimientos innecesarios.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965960"/>
            <a:ext cx="5486400" cy="2103120"/>
          </a:xfrm>
          <a:prstGeom prst="roundRect">
            <a:avLst>
              <a:gd name="adj" fmla="val 30000"/>
            </a:avLst>
          </a:prstGeom>
          <a:solidFill>
            <a:srgbClr val="0F0F20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C"/>
                </a:solidFill>
                <a:latin typeface="Calibri"/>
              </a:rPr>
              <a:t>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Extracción Programada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0175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Programa la extracción con anticipación: en 5, 10, 15, 30 minutos o 1 hora. El sistema la ejecuta automáticamente a la hora exacta que definiste.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5486400" cy="2103120"/>
          </a:xfrm>
          <a:prstGeom prst="roundRect">
            <a:avLst>
              <a:gd name="adj" fmla="val 30000"/>
            </a:avLst>
          </a:prstGeom>
          <a:solidFill>
            <a:srgbClr val="081818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C"/>
                </a:solidFill>
                <a:latin typeface="Calibri"/>
              </a:rPr>
              <a:t>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83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Pedidos a Torre JUKI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Si el componente está en la torre JUKI, genera un ticket de pedido al operador de la torre con nivel de urgencia configurable del 1 al 5.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4297680"/>
            <a:ext cx="5486400" cy="2103120"/>
          </a:xfrm>
          <a:prstGeom prst="roundRect">
            <a:avLst>
              <a:gd name="adj" fmla="val 30000"/>
            </a:avLst>
          </a:prstGeom>
          <a:solidFill>
            <a:srgbClr val="181205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480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F6FC"/>
                </a:solidFill>
                <a:latin typeface="Calibri"/>
              </a:rPr>
              <a:t>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983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Anti-Duplicados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34924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Si el internet falla y el usuario presiona dos veces, el sistema detecta la solicitud duplicada y retorna el resultado original sin ejecutar dos veces.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00800"/>
            <a:ext cx="11247120" cy="338328"/>
          </a:xfrm>
          <a:prstGeom prst="roundRect">
            <a:avLst>
              <a:gd name="adj" fmla="val 8000"/>
            </a:avLst>
          </a:prstGeom>
          <a:solidFill>
            <a:srgbClr val="0E1424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  <a:latin typeface="Calibri"/>
              </a:rPr>
              <a:t>📊  Panel visual de programadas con cuenta regresiva en tiempo real y opción de cancelar antes de ejecutarse.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2952" y="182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0" b="1" i="0">
                <a:solidFill>
                  <a:srgbClr val="1A1F27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📦  INVENTARIO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F6FC"/>
                </a:solidFill>
                <a:latin typeface="Calibri"/>
              </a:rPr>
              <a:t>Visibilidad total del stock,
siempre actualizada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Todos los rollos con código, número de parte, cantidad, posición exacta y hora de actualización.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Buscador instantáneo por código de rollo o número de parte.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369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36976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Exporta todo el inventario a Excel/CSV con un solo clic.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0390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03904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Semáforo Verde "En Vivo" para confirmar que los datos son actuales.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708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7083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Incluye inventario de Torres JUKI fusionado en la misma vista.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Se refresca automáticamente cada 5 segundos sin recargar la página.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914400"/>
            <a:ext cx="5029200" cy="5760720"/>
          </a:xfrm>
          <a:prstGeom prst="roundRect">
            <a:avLst>
              <a:gd name="adj" fmla="val 15000"/>
            </a:avLst>
          </a:prstGeom>
          <a:solidFill>
            <a:srgbClr val="0D1117"/>
          </a:solidFill>
          <a:ln w="1016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914400"/>
            <a:ext cx="5029200" cy="411480"/>
          </a:xfrm>
          <a:prstGeom prst="roundRect">
            <a:avLst>
              <a:gd name="adj" fmla="val 1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969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6FC"/>
                </a:solidFill>
                <a:latin typeface="Calibri"/>
              </a:rPr>
              <a:t>Inventario DB — SmarTrack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9692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0B981"/>
                </a:solidFill>
                <a:latin typeface="Calibri"/>
              </a:rPr>
              <a:t>● En vivo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84F58"/>
                </a:solidFill>
                <a:latin typeface="Calibri"/>
              </a:rPr>
              <a:t>Part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84F58"/>
                </a:solidFill>
                <a:latin typeface="Calibri"/>
              </a:rPr>
              <a:t>Posicion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84F58"/>
                </a:solidFill>
                <a:latin typeface="Calibri"/>
              </a:rPr>
              <a:t>Qty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737360"/>
            <a:ext cx="5029200" cy="521207"/>
          </a:xfrm>
          <a:prstGeom prst="rect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828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0402WGF10R0TCE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SR2 · Left B/14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1828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4,200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35915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RC0402FR-07100RL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359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SR1 · Right A/05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23591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12,000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2798064"/>
            <a:ext cx="5029200" cy="521207"/>
          </a:xfrm>
          <a:prstGeom prst="rect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28895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alibri"/>
              </a:rPr>
              <a:t>GRM155R71C104KA88D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8895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JUKI Torre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28895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59E0B"/>
                </a:solidFill>
                <a:latin typeface="Calibri"/>
              </a:rPr>
              <a:t>850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19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ERJ-2RKF100X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4198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SR3 · Left C/22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34198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2,750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3858768"/>
            <a:ext cx="5029200" cy="521207"/>
          </a:xfrm>
          <a:prstGeom prst="rect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3950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CC0402KRX7R9BB104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3950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SR2 · Right D/07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39502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6,100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480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alibri"/>
              </a:rPr>
              <a:t>CRCW0402100KFKED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JUKI Torre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4480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59E0B"/>
                </a:solidFill>
                <a:latin typeface="Calibri"/>
              </a:rPr>
              <a:t>3,400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4919472"/>
            <a:ext cx="5029200" cy="521207"/>
          </a:xfrm>
          <a:prstGeom prst="rect">
            <a:avLst/>
          </a:prstGeom>
          <a:solidFill>
            <a:srgbClr val="1015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5010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RC0402JR-07100RL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5010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  <a:latin typeface="Calibri"/>
              </a:rPr>
              <a:t>SR4 · Left A/11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50109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900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61264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0E182E"/>
          </a:solidFill>
          <a:ln w="889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6172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  <a:latin typeface="Calibri"/>
              </a:rPr>
              <a:t>⬇  Exportar 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2952" y="182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0" b="1" i="0">
                <a:solidFill>
                  <a:srgbClr val="1A1F27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🔐  CONTROL &amp; 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0F6FC"/>
                </a:solidFill>
                <a:latin typeface="Calibri"/>
              </a:rPr>
              <a:t>Saber quién sacó qué.
Siempre.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Cada extracción queda registrada con nombre del operador, hora y resultado.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5486400" cy="2057400"/>
          </a:xfrm>
          <a:prstGeom prst="roundRect">
            <a:avLst>
              <a:gd name="adj" fmla="val 30000"/>
            </a:avLst>
          </a:prstGeom>
          <a:solidFill>
            <a:srgbClr val="1A1204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6FC"/>
                </a:solidFill>
                <a:latin typeface="Calibri"/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Acceso con Número de Empleado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Cada operador usa su número de empleado. Queda registrado quién solicitó cada movimiento de material.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377440"/>
            <a:ext cx="5486400" cy="2057400"/>
          </a:xfrm>
          <a:prstGeom prst="roundRect">
            <a:avLst>
              <a:gd name="adj" fmla="val 30000"/>
            </a:avLst>
          </a:prstGeom>
          <a:solidFill>
            <a:srgbClr val="101022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6FC"/>
                </a:solidFill>
                <a:latin typeface="Calibri"/>
              </a:rPr>
              <a:t>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Auditoría Completa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El panel administrativo muestra el historial de extracciones: operador, resultado, ID del trabajo y hora exacta.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63440"/>
            <a:ext cx="5486400" cy="2057400"/>
          </a:xfrm>
          <a:prstGeom prst="roundRect">
            <a:avLst>
              <a:gd name="adj" fmla="val 30000"/>
            </a:avLst>
          </a:prstGeom>
          <a:solidFill>
            <a:srgbClr val="081818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6FC"/>
                </a:solidFill>
                <a:latin typeface="Calibri"/>
              </a:rPr>
              <a:t>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Panel Operador JUKI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15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Operadores de la torre JUKI tienen su propio panel donde ven pedidos entrantes, urgencia y los marcan como completados.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4663440"/>
            <a:ext cx="5486400" cy="2057400"/>
          </a:xfrm>
          <a:prstGeom prst="roundRect">
            <a:avLst>
              <a:gd name="adj" fmla="val 30000"/>
            </a:avLst>
          </a:prstGeom>
          <a:solidFill>
            <a:srgbClr val="0E182E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846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0F6FC"/>
                </a:solidFill>
                <a:latin typeface="Calibri"/>
              </a:rPr>
              <a:t>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Gestión de Accesos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715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Registra empleados, asigna o revoca accesos en segundos. Si alguien sale de la empresa, su acceso se deshabilita de inmediato.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2952" y="182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0" b="1" i="0">
                <a:solidFill>
                  <a:srgbClr val="1A1F27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🛡️  LISTO PARA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  <a:latin typeface="Calibri"/>
              </a:rPr>
              <a:t>Un sistema construido para
resistir la planta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No es un prototipo. SmarTrack fue diseñado y probado para operar en entornos industriales reales.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2651760" cy="13716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B82F6"/>
                </a:solidFill>
                <a:latin typeface="Calibri"/>
              </a:rPr>
              <a:t>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Cobertura de pruebas automáticas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423160"/>
            <a:ext cx="2651760" cy="13716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  <a:latin typeface="Calibri"/>
              </a:rPr>
              <a:t>130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Tests unitarios y de integración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423160"/>
            <a:ext cx="2651760" cy="13716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4B8A6"/>
                </a:solidFill>
                <a:latin typeface="Calibri"/>
              </a:rP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Funcionamiento continuo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423160"/>
            <a:ext cx="2651760" cy="13716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9E0B"/>
                </a:solidFill>
                <a:latin typeface="Calibri"/>
              </a:rPr>
              <a:t>.exe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>Sin instalación compleja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4F58"/>
                </a:solidFill>
                <a:latin typeface="Calibri"/>
              </a:rPr>
              <a:t>RESILIENCIA Y RECUPERACIÓN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  Circuit Breaker: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90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Si el SmartRack no responde, el sistema no colapsa. Reanuda automáticamente.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00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  Reconexión automática: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760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Al servidor SmartRack si el token expira durante operación.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052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  Modo lectura: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613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Si hay problemas de escritura, jamás pierde visibilidad del inventario.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904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  Limpieza automática: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Registros viejos se eliminan solos para mantener el rendimiento.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69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84F58"/>
                </a:solidFill>
                <a:latin typeface="Calibri"/>
              </a:rPr>
              <a:t>SEGURIDAD DE DESPLIEGUE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434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  Safe Mode: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90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Se niega a iniciar si detecta contraseñas débiles por defecto.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0200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  Capas de acceso: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2760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Operadores usan número de empleado; admins tienen credenciales separadas.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6052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  API Keys revocables: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8613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Si un empleado sale, su acceso se deshabilita en segundos.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61904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  <a:latin typeface="Calibri"/>
              </a:rPr>
              <a:t>✓  Logs estructurados: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465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Con ID de correlación por cada solicitud para diagnóstico rápido.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2952" y="182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0" b="1" i="0">
                <a:solidFill>
                  <a:srgbClr val="1A1F27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🚀  IMPLEMENTACIÓN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6FC"/>
                </a:solidFill>
                <a:latin typeface="Calibri"/>
              </a:rPr>
              <a:t>Funciona desde el primer día
sin complicaciones de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Calibri"/>
              </a:rPr>
              <a:t>No hay nube. No hay licencias anuales. No hay servidores complejos. Software que vive en tu planta.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3657600" cy="2286000"/>
          </a:xfrm>
          <a:prstGeom prst="roundRect">
            <a:avLst>
              <a:gd name="adj" fmla="val 20000"/>
            </a:avLst>
          </a:prstGeom>
          <a:solidFill>
            <a:srgbClr val="0D141E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594360" cy="5943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700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F6F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Configura el .env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Editas un archivo de texto con la IP del SmartRack y las credenciales. Toma 2 minutos. No requiere conocimientos técnicos.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468880"/>
            <a:ext cx="3657600" cy="2286000"/>
          </a:xfrm>
          <a:prstGeom prst="roundRect">
            <a:avLst>
              <a:gd name="adj" fmla="val 20000"/>
            </a:avLst>
          </a:prstGeom>
          <a:solidFill>
            <a:srgbClr val="0D141E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651760"/>
            <a:ext cx="594360" cy="5943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6700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F6FC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  <a:latin typeface="Calibri"/>
              </a:rPr>
              <a:t>Ejecutas el .exe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03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Doble clic en SmarTrack.exe. El sistema arranca, conecta al hardware y sincroniza. Sin instaladores, sin permisos especiales.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468880"/>
            <a:ext cx="3657600" cy="2286000"/>
          </a:xfrm>
          <a:prstGeom prst="roundRect">
            <a:avLst>
              <a:gd name="adj" fmla="val 20000"/>
            </a:avLst>
          </a:prstGeom>
          <a:solidFill>
            <a:srgbClr val="0D141E"/>
          </a:solidFill>
          <a:ln w="101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2651760"/>
            <a:ext cx="594360" cy="59436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67004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F6FC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Abres el navegador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03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949E"/>
                </a:solidFill>
                <a:latin typeface="Calibri"/>
              </a:rPr>
              <a:t>Cualquier PC, tablet o celular en la misma red accede escribiendo la IP en el navegador. Listo para usar desde el día 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11247120" cy="1188720"/>
          </a:xfrm>
          <a:prstGeom prst="roundRect">
            <a:avLst>
              <a:gd name="adj" fmla="val 15000"/>
            </a:avLst>
          </a:prstGeom>
          <a:solidFill>
            <a:srgbClr val="08151E"/>
          </a:solidFill>
          <a:ln w="1016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457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0F6FC"/>
                </a:solidFill>
                <a:latin typeface="Calibri"/>
              </a:rP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6FC"/>
                </a:solidFill>
                <a:latin typeface="Calibri"/>
              </a:rPr>
              <a:t>Completamente On-Premise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864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Todos los datos se guardan en tu propia computadora, en tu red. Sin datos en la nube. Sin dependencia de internet. Sin suscripciones mensuales. Lo que compras es tuyo completo.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2952" y="182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0" b="1" i="0">
                <a:solidFill>
                  <a:srgbClr val="1A1F27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💰  RETORNO DE 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6FC"/>
                </a:solidFill>
                <a:latin typeface="Calibri"/>
              </a:rPr>
              <a:t>Lo que cambia con SmarTrack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41148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381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84F58"/>
                </a:solidFill>
                <a:latin typeface="Calibri"/>
              </a:rPr>
              <a:t>Situación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❌  Sin SmarTrack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417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✅  Con SmarTrack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1247120" cy="512064"/>
          </a:xfrm>
          <a:prstGeom prst="rect">
            <a:avLst/>
          </a:prstGeom>
          <a:solidFill>
            <a:srgbClr val="10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Localizar un componente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5–20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&lt; 10 segundos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59152"/>
            <a:ext cx="11247120" cy="51206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505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Exactitud del inventario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4505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Depende de quién anotó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50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Sincronizado en tiempo real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89504"/>
            <a:ext cx="11247120" cy="512064"/>
          </a:xfrm>
          <a:prstGeom prst="rect">
            <a:avLst/>
          </a:prstGeom>
          <a:solidFill>
            <a:srgbClr val="10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809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Trazabilidad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9809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Bitácora manual o ninguna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9809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100% automática con nombre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19856"/>
            <a:ext cx="11247120" cy="51206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5112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Doble extracción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5112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Riesgo alto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5112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Eliminada por el sistema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50208"/>
            <a:ext cx="11247120" cy="512064"/>
          </a:xfrm>
          <a:prstGeom prst="rect">
            <a:avLst/>
          </a:prstGeom>
          <a:solidFill>
            <a:srgbClr val="10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416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Solicitudes JUKI urgentes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04164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Por radio o teléfono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416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Ticket digital con prioridad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80560"/>
            <a:ext cx="11247120" cy="51206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Extracción programada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572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No existe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Automática con anticipación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010912"/>
            <a:ext cx="11247120" cy="512064"/>
          </a:xfrm>
          <a:prstGeom prst="rect">
            <a:avLst/>
          </a:prstGeom>
          <a:solidFill>
            <a:srgbClr val="10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1023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Reportes de inventario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1023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Horas de trabajo manual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102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Exportar CSV en 1 clic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541264"/>
            <a:ext cx="11247120" cy="51206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6327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Dependencia de una persona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56327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Alta — "el que sabe dónde está"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56327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Cualquier operador puede buscar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172200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0B981"/>
                </a:solidFill>
                <a:latin typeface="Calibri"/>
              </a:rPr>
              <a:t>-90%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7132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1904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Calibri"/>
              </a:rPr>
              <a:t>-90%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39" y="6172200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39" y="6400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B82F6"/>
                </a:solidFill>
                <a:latin typeface="Calibri"/>
              </a:rPr>
              <a:t>+100%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399" y="7132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39" y="61904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B82F6"/>
                </a:solidFill>
                <a:latin typeface="Calibri"/>
              </a:rPr>
              <a:t>+100%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8" y="6172200"/>
            <a:ext cx="3566160" cy="54864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78" y="64008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9E0B"/>
                </a:solidFill>
                <a:latin typeface="Calibri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38" y="7132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8" y="61904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2952" y="182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0" b="1" i="0">
                <a:solidFill>
                  <a:srgbClr val="1A1F27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  <a:latin typeface="Calibri"/>
              </a:rPr>
              <a:t>📋  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F6FC"/>
                </a:solidFill>
                <a:latin typeface="Calibri"/>
              </a:rPr>
              <a:t>Lo que obtiene con este 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Para el Operador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Encuentra cualquier componente en segundos desde su estación.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Escanea con lector de barras para búsqueda instantánea.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Solicita extracciones inmediatas o programadas con un clic.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Ve extracciones pendientes con cuenta regresiva en tiempo real.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Cierre de sesión seguro al final de cada turno.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Para el Administrador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20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Registra y gestiona el acceso de empleados desde la web.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68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Revisa quién extrajo qué material y cuándo en la auditoría.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17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Configura líneas de producción y sus racks asignados.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661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66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Exporta inventario completo a Excel con un solo clic.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114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114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Sin administración de servidores ni mantenimiento complejo.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54880"/>
            <a:ext cx="11247120" cy="1097280"/>
          </a:xfrm>
          <a:prstGeom prst="roundRect">
            <a:avLst>
              <a:gd name="adj" fmla="val 15000"/>
            </a:avLst>
          </a:prstGeom>
          <a:solidFill>
            <a:srgbClr val="0B122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6FC"/>
                </a:solidFill>
                <a:latin typeface="Calibri"/>
              </a:rPr>
              <a:t>"Transformamos el inventario de algo que se manejaba con papel y radio, a un sistema digital,
trazable y automatizado — que cualquier operador puede usar desde el primer día."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08076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108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B82F6"/>
                </a:solidFill>
                <a:latin typeface="Calibri"/>
              </a:rPr>
              <a:t>🏭 Manufactura electrónica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33472" y="608076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3472" y="6108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B82F6"/>
                </a:solidFill>
                <a:latin typeface="Calibri"/>
              </a:rPr>
              <a:t>📡 SmartRack &amp; JUKI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9744" y="608076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9744" y="6108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B82F6"/>
                </a:solidFill>
                <a:latin typeface="Calibri"/>
              </a:rPr>
              <a:t>📊 Auditoría completa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86016" y="608076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86016" y="6108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B82F6"/>
                </a:solidFill>
                <a:latin typeface="Calibri"/>
              </a:rPr>
              <a:t>✅ 130 tests · Producción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62288" y="608076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62288" y="6108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B82F6"/>
                </a:solidFill>
                <a:latin typeface="Calibri"/>
              </a:rPr>
              <a:t>💾 On-Premise · Sin nube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371600"/>
            <a:ext cx="3931920" cy="4114800"/>
          </a:xfrm>
          <a:prstGeom prst="roundRect">
            <a:avLst>
              <a:gd name="adj" fmla="val 80000"/>
            </a:avLst>
          </a:prstGeom>
          <a:solidFill>
            <a:srgbClr val="0A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1280160"/>
            <a:ext cx="1554480" cy="100584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0" y="1353312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0F6FC"/>
                </a:solidFill>
                <a:latin typeface="Calibri"/>
              </a:rPr>
              <a:t>SR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3B82F6"/>
                </a:solidFill>
                <a:latin typeface="Calibri"/>
              </a:rPr>
              <a:t>SmarTrack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Calibri"/>
              </a:rPr>
              <a:t>Sistema de Inventario Inteligente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Calibri"/>
              </a:rPr>
              <a:t>Un sistema hecho a la medida de su operación, construido con tecnología
moderna, pensado para la realidad de su planta manufacturera.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93776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017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84F58"/>
                </a:solidFill>
                <a:latin typeface="Calibri"/>
              </a:rPr>
              <a:t>TECNOLOGÍA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03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  <a:latin typeface="Calibri"/>
              </a:rPr>
              <a:t>FastAPI · SQLite · Python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493776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0017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84F58"/>
                </a:solidFill>
                <a:latin typeface="Calibri"/>
              </a:rPr>
              <a:t>ACCESO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5303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  <a:latin typeface="Calibri"/>
              </a:rPr>
              <a:t>Web · Cualquier navegador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493776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50017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84F58"/>
                </a:solidFill>
                <a:latin typeface="Calibri"/>
              </a:rPr>
              <a:t>HOSPEDAJE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03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  <a:latin typeface="Calibri"/>
              </a:rPr>
              <a:t>On-Premise · Red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493776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6350">
            <a:solidFill>
              <a:srgbClr val="1C2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50017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84F58"/>
                </a:solidFill>
                <a:latin typeface="Calibri"/>
              </a:rPr>
              <a:t>CALIDAD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5303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  <a:latin typeface="Calibri"/>
              </a:rPr>
              <a:t>85% cobertura · 130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84F58"/>
                </a:solidFill>
                <a:latin typeface="Calibri"/>
              </a:rPr>
              <a:t>🔒 Todos los datos se almacenan en su infraestructura local. Sin dependencias externas.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